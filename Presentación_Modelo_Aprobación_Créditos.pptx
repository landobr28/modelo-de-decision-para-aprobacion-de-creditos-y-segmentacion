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74519"/>
            <a:ext cx="12191695" cy="54864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 i="0">
                <a:solidFill>
                  <a:srgbClr val="C9A24A"/>
                </a:solidFill>
                <a:latin typeface="Calibri"/>
              </a:defRPr>
            </a:pPr>
            <a:r>
              <a:t>LICENCIATURA EN ACTUARÍA  ·  FES ACATLÁN · UNAM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69848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700" b="1" i="0">
                <a:solidFill>
                  <a:srgbClr val="FFFFFF"/>
                </a:solidFill>
                <a:latin typeface="Calibri"/>
              </a:defRPr>
            </a:pPr>
            <a:r>
              <a:t>Modelo de Decisión para la Aprobación de Créditos y Segmentación de Riesgo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886200"/>
            <a:ext cx="9418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0" i="0">
                <a:solidFill>
                  <a:srgbClr val="F5F2EA"/>
                </a:solidFill>
                <a:latin typeface="Calibri"/>
              </a:defRPr>
            </a:pPr>
            <a:r>
              <a:t>Reglas de decisión para la selección de clientes y la segmentación de la cartera crediticia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029200"/>
            <a:ext cx="94183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0" i="0">
                <a:solidFill>
                  <a:srgbClr val="F5F2EA"/>
                </a:solidFill>
                <a:latin typeface="Calibri"/>
              </a:defRPr>
            </a:pPr>
            <a:r>
              <a:t>Administración Actuarial</a:t>
            </a:r>
            <a:br/>
            <a:r>
              <a:t>Prof. Tapia Martínez Omar Alejandro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600" b="1" i="0">
                <a:solidFill>
                  <a:srgbClr val="FFFFFF"/>
                </a:solidFill>
                <a:latin typeface="Calibri"/>
              </a:defRPr>
            </a:pPr>
            <a:r>
              <a:t>Objetivo y Contexto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42415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 i="1">
                <a:solidFill>
                  <a:srgbClr val="5A646E"/>
                </a:solidFill>
                <a:latin typeface="Calibri"/>
              </a:defRPr>
            </a:pPr>
            <a:r>
              <a:t>¿Qué buscamos resolver?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200" b="0" i="0">
                <a:solidFill>
                  <a:srgbClr val="5A646E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6583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0F2A4A"/>
                </a:solidFill>
                <a:latin typeface="Calibri"/>
              </a:rPr>
              <a:t>•  Base de análisis:</a:t>
            </a:r>
            <a:r>
              <a:rPr sz="1600">
                <a:solidFill>
                  <a:srgbClr val="0F2A4A"/>
                </a:solidFill>
                <a:latin typeface="Calibri"/>
              </a:rPr>
              <a:t>  292,849 solicitudes de crédito.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F2A4A"/>
                </a:solidFill>
                <a:latin typeface="Calibri"/>
              </a:rPr>
              <a:t>•  Objetivo:</a:t>
            </a:r>
            <a:r>
              <a:rPr sz="1600">
                <a:solidFill>
                  <a:srgbClr val="0F2A4A"/>
                </a:solidFill>
                <a:latin typeface="Calibri"/>
              </a:rPr>
              <a:t>  construir un modelo de decisión binario que apruebe créditos a los clientes de menor riesgo y rechace a los de mayor riesgo.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F2A4A"/>
                </a:solidFill>
                <a:latin typeface="Calibri"/>
              </a:rPr>
              <a:t>•  Restricción operativa:</a:t>
            </a:r>
            <a:r>
              <a:rPr sz="1600">
                <a:solidFill>
                  <a:srgbClr val="0F2A4A"/>
                </a:solidFill>
                <a:latin typeface="Calibri"/>
              </a:rPr>
              <a:t>  lograr ~25% de aprobación y ~75% de rechazo del total de los créditos.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F2A4A"/>
                </a:solidFill>
                <a:latin typeface="Calibri"/>
              </a:rPr>
              <a:t>•  Discriminación:</a:t>
            </a:r>
            <a:r>
              <a:rPr sz="1600">
                <a:solidFill>
                  <a:srgbClr val="0F2A4A"/>
                </a:solidFill>
                <a:latin typeface="Calibri"/>
              </a:rPr>
              <a:t>  clasificar a los usuarios en aprobados/rechazados buenos y malos.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F2A4A"/>
                </a:solidFill>
                <a:latin typeface="Calibri"/>
              </a:rPr>
              <a:t>•  Enfoque:</a:t>
            </a:r>
            <a:r>
              <a:rPr sz="1600">
                <a:solidFill>
                  <a:srgbClr val="0F2A4A"/>
                </a:solidFill>
                <a:latin typeface="Calibri"/>
              </a:rPr>
              <a:t>  modelo de reglas de decisión (scorecard interpretable) aplicado con pandas.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589520" y="1554480"/>
            <a:ext cx="3931920" cy="123444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00200"/>
            <a:ext cx="393192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 b="1" i="0">
                <a:solidFill>
                  <a:srgbClr val="C9A24A"/>
                </a:solidFill>
                <a:latin typeface="Calibri"/>
              </a:defRPr>
            </a:pPr>
            <a:r>
              <a:t>25% aprobación</a:t>
            </a:r>
            <a:br/>
            <a:r>
              <a:t>75% rechazo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89520" y="2971800"/>
            <a:ext cx="3931920" cy="2377440"/>
          </a:xfrm>
          <a:prstGeom prst="rect">
            <a:avLst/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3108960"/>
            <a:ext cx="356616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 i="0">
                <a:solidFill>
                  <a:srgbClr val="0F2A4A"/>
                </a:solidFill>
                <a:latin typeface="Calibri"/>
              </a:defRPr>
            </a:pPr>
            <a:r>
              <a:t>La variable objetivo se combina con variables secundarias para lograr una discriminación ideal de los usuarios y separar el riesgo crediticio.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600" b="1" i="0">
                <a:solidFill>
                  <a:srgbClr val="FFFFFF"/>
                </a:solidFill>
                <a:latin typeface="Calibri"/>
              </a:defRPr>
            </a:pPr>
            <a:r>
              <a:t>Base de Datos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42415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 i="1">
                <a:solidFill>
                  <a:srgbClr val="5A646E"/>
                </a:solidFill>
                <a:latin typeface="Calibri"/>
              </a:defRPr>
            </a:pPr>
            <a:r>
              <a:t>Características de los datos utilizados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200" b="0" i="0">
                <a:solidFill>
                  <a:srgbClr val="5A646E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463040"/>
            <a:ext cx="2743200" cy="1554480"/>
          </a:xfrm>
          <a:prstGeom prst="rect">
            <a:avLst/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63040"/>
            <a:ext cx="2743200" cy="4572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00200"/>
            <a:ext cx="2743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200" b="1" i="0">
                <a:solidFill>
                  <a:srgbClr val="0F2A4A"/>
                </a:solidFill>
                <a:latin typeface="Calibri"/>
              </a:defRPr>
            </a:pPr>
            <a:r>
              <a:t>292,849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377440"/>
            <a:ext cx="2743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 i="0">
                <a:solidFill>
                  <a:srgbClr val="5A646E"/>
                </a:solidFill>
                <a:latin typeface="Calibri"/>
              </a:defRPr>
            </a:pPr>
            <a:r>
              <a:t>Solicitudes de crédito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66160" y="1463040"/>
            <a:ext cx="2743200" cy="1554480"/>
          </a:xfrm>
          <a:prstGeom prst="rect">
            <a:avLst/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66160" y="1463040"/>
            <a:ext cx="2743200" cy="4572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1600200"/>
            <a:ext cx="2743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200" b="1" i="0">
                <a:solidFill>
                  <a:srgbClr val="0F2A4A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377440"/>
            <a:ext cx="2743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 i="0">
                <a:solidFill>
                  <a:srgbClr val="5A646E"/>
                </a:solidFill>
                <a:latin typeface="Calibri"/>
              </a:defRPr>
            </a:pPr>
            <a:r>
              <a:t>Variables de análisis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92240" y="1463040"/>
            <a:ext cx="2743200" cy="1554480"/>
          </a:xfrm>
          <a:prstGeom prst="rect">
            <a:avLst/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92240" y="1463040"/>
            <a:ext cx="2743200" cy="4572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600200"/>
            <a:ext cx="2743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200" b="1" i="0">
                <a:solidFill>
                  <a:srgbClr val="0F2A4A"/>
                </a:solidFill>
                <a:latin typeface="Calibri"/>
              </a:defRPr>
            </a:pPr>
            <a:r>
              <a:t>7 grados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377440"/>
            <a:ext cx="2743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 i="0">
                <a:solidFill>
                  <a:srgbClr val="5A646E"/>
                </a:solidFill>
                <a:latin typeface="Calibri"/>
              </a:defRPr>
            </a:pPr>
            <a:r>
              <a:t>A – G (riesgo crediticio)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418320" y="1463040"/>
            <a:ext cx="2103120" cy="1554480"/>
          </a:xfrm>
          <a:prstGeom prst="rect">
            <a:avLst/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418320" y="1463040"/>
            <a:ext cx="2103120" cy="4572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600200"/>
            <a:ext cx="2103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200" b="1" i="0">
                <a:solidFill>
                  <a:srgbClr val="0F2A4A"/>
                </a:solidFill>
                <a:latin typeface="Calibri"/>
              </a:defRPr>
            </a:pPr>
            <a:r>
              <a:t>70%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0" y="2377440"/>
            <a:ext cx="2103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 i="0">
                <a:solidFill>
                  <a:srgbClr val="5A646E"/>
                </a:solidFill>
                <a:latin typeface="Calibri"/>
              </a:defRPr>
            </a:pPr>
            <a:r>
              <a:t>Umbral de recuperación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324612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0F2A4A"/>
                </a:solidFill>
                <a:latin typeface="Calibri"/>
              </a:rPr>
              <a:t>•  mths_since_last_delinq:</a:t>
            </a:r>
            <a:r>
              <a:rPr sz="1600">
                <a:solidFill>
                  <a:srgbClr val="0F2A4A"/>
                </a:solidFill>
                <a:latin typeface="Calibri"/>
              </a:rPr>
              <a:t>  meses desde la última morosidad (NaN = sin historial de morosidad).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F2A4A"/>
                </a:solidFill>
                <a:latin typeface="Calibri"/>
              </a:rPr>
              <a:t>•  dti:</a:t>
            </a:r>
            <a:r>
              <a:rPr sz="1600">
                <a:solidFill>
                  <a:srgbClr val="0F2A4A"/>
                </a:solidFill>
                <a:latin typeface="Calibri"/>
              </a:rPr>
              <a:t>  relación deuda-ingreso; mide la capacidad de pago.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F2A4A"/>
                </a:solidFill>
                <a:latin typeface="Calibri"/>
              </a:rPr>
              <a:t>•  grade:</a:t>
            </a:r>
            <a:r>
              <a:rPr sz="1600">
                <a:solidFill>
                  <a:srgbClr val="0F2A4A"/>
                </a:solidFill>
                <a:latin typeface="Calibri"/>
              </a:rPr>
              <a:t>  calificación del préstamo A–G (A = menor riesgo).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F2A4A"/>
                </a:solidFill>
                <a:latin typeface="Calibri"/>
              </a:rPr>
              <a:t>•  delinq_2yrs:</a:t>
            </a:r>
            <a:r>
              <a:rPr sz="1600">
                <a:solidFill>
                  <a:srgbClr val="0F2A4A"/>
                </a:solidFill>
                <a:latin typeface="Calibri"/>
              </a:rPr>
              <a:t>  número de morosidades en los últimos 2 años.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F2A4A"/>
                </a:solidFill>
                <a:latin typeface="Calibri"/>
              </a:rPr>
              <a:t>•  Recuperación:</a:t>
            </a:r>
            <a:r>
              <a:rPr sz="1600">
                <a:solidFill>
                  <a:srgbClr val="0F2A4A"/>
                </a:solidFill>
                <a:latin typeface="Calibri"/>
              </a:rPr>
              <a:t>  principal recuperado / monto financiado (total_rec_prncp / funded_amnt).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F2A4A"/>
                </a:solidFill>
                <a:latin typeface="Calibri"/>
              </a:rPr>
              <a:t>•  Manejo de datos faltantes:</a:t>
            </a:r>
            <a:r>
              <a:rPr sz="1600">
                <a:solidFill>
                  <a:srgbClr val="0F2A4A"/>
                </a:solidFill>
                <a:latin typeface="Calibri"/>
              </a:rPr>
              <a:t>  los NaNs de morosidad se tratan explícitamente para no sesgar la clasificación.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600" b="1" i="0">
                <a:solidFill>
                  <a:srgbClr val="FFFFFF"/>
                </a:solidFill>
                <a:latin typeface="Calibri"/>
              </a:defRPr>
            </a:pPr>
            <a:r>
              <a:t>Variable Objetivo: mths_since_last_delinq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42415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 i="1">
                <a:solidFill>
                  <a:srgbClr val="5A646E"/>
                </a:solidFill>
                <a:latin typeface="Calibri"/>
              </a:defRPr>
            </a:pPr>
            <a:r>
              <a:t>Meses de morosidad como señal de riesgo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200" b="0" i="0">
                <a:solidFill>
                  <a:srgbClr val="5A646E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5852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0F2A4A"/>
                </a:solidFill>
                <a:latin typeface="Calibri"/>
              </a:rPr>
              <a:t>•  ¿Por qué elegirla?</a:t>
            </a:r>
            <a:r>
              <a:rPr sz="1600">
                <a:solidFill>
                  <a:srgbClr val="0F2A4A"/>
                </a:solidFill>
                <a:latin typeface="Calibri"/>
              </a:rPr>
              <a:t>  los meses desde la última morosidad reflejan la responsabilidad en el pago puntual del crédito.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F2A4A"/>
                </a:solidFill>
                <a:latin typeface="Calibri"/>
              </a:rPr>
              <a:t>•  Buenos:</a:t>
            </a:r>
            <a:r>
              <a:rPr sz="1600">
                <a:solidFill>
                  <a:srgbClr val="0F2A4A"/>
                </a:solidFill>
                <a:latin typeface="Calibri"/>
              </a:rPr>
              <a:t>  clientes con 30+ meses sin mora o sin historial de morosidad (NaN).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F2A4A"/>
                </a:solidFill>
                <a:latin typeface="Calibri"/>
              </a:rPr>
              <a:t>•  Punto de partida:</a:t>
            </a:r>
            <a:r>
              <a:rPr sz="1600">
                <a:solidFill>
                  <a:srgbClr val="0F2A4A"/>
                </a:solidFill>
                <a:latin typeface="Calibri"/>
              </a:rPr>
              <a:t>  con este criterio se aprueba el 76.48% (223,963) de la base, y el 23.52% se rechaza.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F2A4A"/>
                </a:solidFill>
                <a:latin typeface="Calibri"/>
              </a:rPr>
              <a:t>•  Intersección:</a:t>
            </a:r>
            <a:r>
              <a:rPr sz="1600">
                <a:solidFill>
                  <a:srgbClr val="0F2A4A"/>
                </a:solidFill>
                <a:latin typeface="Calibri"/>
              </a:rPr>
              <a:t>  se cruza con las variables secundarias para acotar la aprobación al 25%.</a:t>
            </a:r>
          </a:p>
        </p:txBody>
      </p:sp>
      <p:sp>
        <p:nvSpPr>
          <p:cNvPr id="8" name="Rectangle 7"/>
          <p:cNvSpPr/>
          <p:nvPr/>
        </p:nvSpPr>
        <p:spPr>
          <a:xfrm>
            <a:off x="6675120" y="1554480"/>
            <a:ext cx="4846320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1_histograma_mo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645920"/>
            <a:ext cx="4572000" cy="267218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600" b="1" i="0">
                <a:solidFill>
                  <a:srgbClr val="FFFFFF"/>
                </a:solidFill>
                <a:latin typeface="Calibri"/>
              </a:defRPr>
            </a:pPr>
            <a:r>
              <a:t>Metodología: Condición Principal + Secundarias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42415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 i="1">
                <a:solidFill>
                  <a:srgbClr val="5A646E"/>
                </a:solidFill>
                <a:latin typeface="Calibri"/>
              </a:defRPr>
            </a:pPr>
            <a:r>
              <a:t>Reglas de decisión de aprobación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200" b="0" i="0">
                <a:solidFill>
                  <a:srgbClr val="5A646E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10972800" cy="123444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91640"/>
            <a:ext cx="105156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Condición Principal (VP): mths_since_last_delinq ≥ 30  o  sin historial (NaN)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063240"/>
            <a:ext cx="10972800" cy="3291840"/>
          </a:xfrm>
          <a:prstGeom prst="rect">
            <a:avLst/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2004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 i="0">
                <a:solidFill>
                  <a:srgbClr val="C9A24A"/>
                </a:solidFill>
                <a:latin typeface="Calibri"/>
              </a:defRPr>
            </a:pPr>
            <a:r>
              <a:t>Condiciones Secundarias (VS)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611880"/>
            <a:ext cx="104241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0F2A4A"/>
                </a:solidFill>
                <a:latin typeface="Calibri"/>
              </a:rPr>
              <a:t>•  VS1 — dti ≤ 22:</a:t>
            </a:r>
            <a:r>
              <a:rPr sz="1600">
                <a:solidFill>
                  <a:srgbClr val="0F2A4A"/>
                </a:solidFill>
                <a:latin typeface="Calibri"/>
              </a:rPr>
              <a:t>  la carga de deuda del cliente es manejable, reduciendo el sobreendeudamiento.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F2A4A"/>
                </a:solidFill>
                <a:latin typeface="Calibri"/>
              </a:rPr>
              <a:t>•  VS2 — grade = A:</a:t>
            </a:r>
            <a:r>
              <a:rPr sz="1600">
                <a:solidFill>
                  <a:srgbClr val="0F2A4A"/>
                </a:solidFill>
                <a:latin typeface="Calibri"/>
              </a:rPr>
              <a:t>  préstamos con la calificación de riesgo más baja asignada por la entidad.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F2A4A"/>
                </a:solidFill>
                <a:latin typeface="Calibri"/>
              </a:rPr>
              <a:t>•  VS3 — delinq_2yrs = 0:</a:t>
            </a:r>
            <a:r>
              <a:rPr sz="1600">
                <a:solidFill>
                  <a:srgbClr val="0F2A4A"/>
                </a:solidFill>
                <a:latin typeface="Calibri"/>
              </a:rPr>
              <a:t>  excluye clientes con historial reciente de incumplimientos.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F2A4A"/>
                </a:solidFill>
                <a:latin typeface="Calibri"/>
              </a:rPr>
              <a:t>•  VS4 — Recuperación ≥ 70%:</a:t>
            </a:r>
            <a:r>
              <a:rPr sz="1600">
                <a:solidFill>
                  <a:srgbClr val="0F2A4A"/>
                </a:solidFill>
                <a:latin typeface="Calibri"/>
              </a:rPr>
              <a:t>  operaciones con alto potencial de recuperación de capital en caso de default.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577840"/>
            <a:ext cx="10424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 i="0">
                <a:solidFill>
                  <a:srgbClr val="5A646E"/>
                </a:solidFill>
                <a:latin typeface="Calibri"/>
              </a:defRPr>
            </a:pPr>
            <a:r>
              <a:t>Regla: Aprobado = VP  Y  (al menos 3 de 4 VS)   ·   BMB = VP36 (≥36m) y 3/4 VS   ·   MMM = aprobado sin llegar a BMB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600" b="1" i="0">
                <a:solidFill>
                  <a:srgbClr val="FFFFFF"/>
                </a:solidFill>
                <a:latin typeface="Calibri"/>
              </a:defRPr>
            </a:pPr>
            <a:r>
              <a:t>Cumplimiento de Condiciones Secundarias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42415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 i="1">
                <a:solidFill>
                  <a:srgbClr val="5A646E"/>
                </a:solidFill>
                <a:latin typeface="Calibri"/>
              </a:defRPr>
            </a:pPr>
            <a:r>
              <a:t>Distribución de la base y morosidad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200" b="0" i="0">
                <a:solidFill>
                  <a:srgbClr val="5A646E"/>
                </a:solidFill>
                <a:latin typeface="Calibri"/>
              </a:defRPr>
            </a:pPr>
            <a:r>
              <a:t>5</a:t>
            </a:r>
          </a:p>
        </p:txBody>
      </p:sp>
      <p:pic>
        <p:nvPicPr>
          <p:cNvPr id="7" name="Picture 6" descr="2_cumplimiento_condicio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8229600" cy="308497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052560" y="1554480"/>
            <a:ext cx="2926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0F2A4A"/>
                </a:solidFill>
                <a:latin typeface="Calibri"/>
              </a:rPr>
              <a:t>•  0 cond.:</a:t>
            </a:r>
            <a:r>
              <a:rPr sz="1400">
                <a:solidFill>
                  <a:srgbClr val="0F2A4A"/>
                </a:solidFill>
                <a:latin typeface="Calibri"/>
              </a:rPr>
              <a:t>  13,499 clientes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0F2A4A"/>
                </a:solidFill>
                <a:latin typeface="Calibri"/>
              </a:rPr>
              <a:t>•  1 cond.:</a:t>
            </a:r>
            <a:r>
              <a:rPr sz="1400">
                <a:solidFill>
                  <a:srgbClr val="0F2A4A"/>
                </a:solidFill>
                <a:latin typeface="Calibri"/>
              </a:rPr>
              <a:t>  82,028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0F2A4A"/>
                </a:solidFill>
                <a:latin typeface="Calibri"/>
              </a:rPr>
              <a:t>•  2 cond.:</a:t>
            </a:r>
            <a:r>
              <a:rPr sz="1400">
                <a:solidFill>
                  <a:srgbClr val="0F2A4A"/>
                </a:solidFill>
                <a:latin typeface="Calibri"/>
              </a:rPr>
              <a:t>  119,221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0F2A4A"/>
                </a:solidFill>
                <a:latin typeface="Calibri"/>
              </a:rPr>
              <a:t>•  3 cond.:</a:t>
            </a:r>
            <a:r>
              <a:rPr sz="1400">
                <a:solidFill>
                  <a:srgbClr val="0F2A4A"/>
                </a:solidFill>
                <a:latin typeface="Calibri"/>
              </a:rPr>
              <a:t>  66,296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0F2A4A"/>
                </a:solidFill>
                <a:latin typeface="Calibri"/>
              </a:rPr>
              <a:t>•  4 cond.:</a:t>
            </a:r>
            <a:r>
              <a:rPr sz="1400">
                <a:solidFill>
                  <a:srgbClr val="0F2A4A"/>
                </a:solidFill>
                <a:latin typeface="Calibri"/>
              </a:rPr>
              <a:t>  11,805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600" b="1" i="0">
                <a:solidFill>
                  <a:srgbClr val="FFFFFF"/>
                </a:solidFill>
                <a:latin typeface="Calibri"/>
              </a:defRPr>
            </a:pPr>
            <a:r>
              <a:t>Intersección de Variables: Embudo de Aprobación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42415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 i="1">
                <a:solidFill>
                  <a:srgbClr val="5A646E"/>
                </a:solidFill>
                <a:latin typeface="Calibri"/>
              </a:defRPr>
            </a:pPr>
            <a:r>
              <a:t>¿Por qué hacer 3 de 4?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200" b="0" i="0">
                <a:solidFill>
                  <a:srgbClr val="5A646E"/>
                </a:solidFill>
                <a:latin typeface="Calibri"/>
              </a:defRPr>
            </a:pPr>
            <a:r>
              <a:t>6</a:t>
            </a:r>
          </a:p>
        </p:txBody>
      </p:sp>
      <p:pic>
        <p:nvPicPr>
          <p:cNvPr id="7" name="Picture 6" descr="3_embudo_aproba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63040"/>
            <a:ext cx="6766560" cy="384158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80960" y="1554480"/>
            <a:ext cx="4206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0F2A4A"/>
                </a:solidFill>
                <a:latin typeface="Calibri"/>
              </a:rPr>
              <a:t>•  Cada variable aprueba proporciones diferentes.</a:t>
            </a:r>
            <a:r>
              <a:rPr sz="1500">
                <a:solidFill>
                  <a:srgbClr val="0F2A4A"/>
                </a:solidFill>
                <a:latin typeface="Calibri"/>
              </a:rPr>
              <a:t/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0F2A4A"/>
                </a:solidFill>
                <a:latin typeface="Calibri"/>
              </a:rPr>
              <a:t>•  La intersección de variables reduce drásticamente los aprobados, acercándose al 25%.</a:t>
            </a:r>
            <a:r>
              <a:rPr sz="1500">
                <a:solidFill>
                  <a:srgbClr val="0F2A4A"/>
                </a:solidFill>
                <a:latin typeface="Calibri"/>
              </a:rPr>
              <a:t/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0F2A4A"/>
                </a:solidFill>
                <a:latin typeface="Calibri"/>
              </a:rPr>
              <a:t>•  Exigir 3 de 4 VS mantiene estándares altos sin volver la aprobación impracticable.</a:t>
            </a:r>
            <a:r>
              <a:rPr sz="1500">
                <a:solidFill>
                  <a:srgbClr val="0F2A4A"/>
                </a:solidFill>
                <a:latin typeface="Calibri"/>
              </a:rPr>
              <a:t/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0F2A4A"/>
                </a:solidFill>
                <a:latin typeface="Calibri"/>
              </a:rPr>
              <a:t>•  Exigir las 4 obligaría a bajar los umbrales individuales.</a:t>
            </a:r>
            <a:r>
              <a:rPr sz="1500">
                <a:solidFill>
                  <a:srgbClr val="0F2A4A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600" b="1" i="0">
                <a:solidFill>
                  <a:srgbClr val="FFFFFF"/>
                </a:solidFill>
                <a:latin typeface="Calibri"/>
              </a:defRPr>
            </a:pPr>
            <a:r>
              <a:t>Resultados: Clasificación Bueno / Malo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42415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 i="1">
                <a:solidFill>
                  <a:srgbClr val="5A646E"/>
                </a:solidFill>
                <a:latin typeface="Calibri"/>
              </a:defRPr>
            </a:pPr>
            <a:r>
              <a:t>Tasa de aprobación cercana al objetivo del 25%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200" b="0" i="0">
                <a:solidFill>
                  <a:srgbClr val="5A646E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3383280" cy="1737360"/>
          </a:xfrm>
          <a:prstGeom prst="rect">
            <a:avLst/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554480"/>
            <a:ext cx="3383280" cy="4572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3383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200" b="1" i="0">
                <a:solidFill>
                  <a:srgbClr val="2E7D32"/>
                </a:solidFill>
                <a:latin typeface="Calibri"/>
              </a:defRPr>
            </a:pPr>
            <a:r>
              <a:t>24.95%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468880"/>
            <a:ext cx="3383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 i="0">
                <a:solidFill>
                  <a:srgbClr val="5A646E"/>
                </a:solidFill>
                <a:latin typeface="Calibri"/>
              </a:defRPr>
            </a:pPr>
            <a:r>
              <a:t>Tasa de aprobación (objetivo 25%)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1554480"/>
            <a:ext cx="3383280" cy="1737360"/>
          </a:xfrm>
          <a:prstGeom prst="rect">
            <a:avLst/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06240" y="1554480"/>
            <a:ext cx="3383280" cy="4572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06240" y="1691640"/>
            <a:ext cx="3383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200" b="1" i="0">
                <a:solidFill>
                  <a:srgbClr val="0F2A4A"/>
                </a:solidFill>
                <a:latin typeface="Calibri"/>
              </a:defRPr>
            </a:pPr>
            <a:r>
              <a:t>73,070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2468880"/>
            <a:ext cx="3383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 i="0">
                <a:solidFill>
                  <a:srgbClr val="5A646E"/>
                </a:solidFill>
                <a:latin typeface="Calibri"/>
              </a:defRPr>
            </a:pPr>
            <a:r>
              <a:t>Clientes aprobados (Buenos)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0" y="1554480"/>
            <a:ext cx="3749039" cy="1737360"/>
          </a:xfrm>
          <a:prstGeom prst="rect">
            <a:avLst/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0" y="1554480"/>
            <a:ext cx="3749039" cy="4572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1691640"/>
            <a:ext cx="3749039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200" b="1" i="0">
                <a:solidFill>
                  <a:srgbClr val="B33A3A"/>
                </a:solidFill>
                <a:latin typeface="Calibri"/>
              </a:defRPr>
            </a:pPr>
            <a:r>
              <a:t>219,779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2468880"/>
            <a:ext cx="374903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 i="0">
                <a:solidFill>
                  <a:srgbClr val="5A646E"/>
                </a:solidFill>
                <a:latin typeface="Calibri"/>
              </a:defRPr>
            </a:pPr>
            <a:r>
              <a:t>Clientes rechazados (Malos)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566160"/>
            <a:ext cx="10972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0F2A4A"/>
                </a:solidFill>
                <a:latin typeface="Calibri"/>
              </a:rPr>
              <a:t>•  Aproximación al objetivo:</a:t>
            </a:r>
            <a:r>
              <a:rPr sz="1700">
                <a:solidFill>
                  <a:srgbClr val="0F2A4A"/>
                </a:solidFill>
                <a:latin typeface="Calibri"/>
              </a:rPr>
              <a:t>  la combinación VP + 3/4 VS produce una tasa de 24.95%, a 0.05 puntos del objetivo del 25%.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0F2A4A"/>
                </a:solidFill>
                <a:latin typeface="Calibri"/>
              </a:rPr>
              <a:t>•  Consistencia:</a:t>
            </a:r>
            <a:r>
              <a:rPr sz="1700">
                <a:solidFill>
                  <a:srgbClr val="0F2A4A"/>
                </a:solidFill>
                <a:latin typeface="Calibri"/>
              </a:rPr>
              <a:t>  la suma BMB + MMM = 73,070 coincide exactamente con el total de aprobados.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0F2A4A"/>
                </a:solidFill>
                <a:latin typeface="Calibri"/>
              </a:rPr>
              <a:t>•  Interpretación:</a:t>
            </a:r>
            <a:r>
              <a:rPr sz="1700">
                <a:solidFill>
                  <a:srgbClr val="0F2A4A"/>
                </a:solidFill>
                <a:latin typeface="Calibri"/>
              </a:rPr>
              <a:t>  el modelo remueve de la aprobación a los clientes con peor perfil de solvencia e historial.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600" b="1" i="0">
                <a:solidFill>
                  <a:srgbClr val="FFFFFF"/>
                </a:solidFill>
                <a:latin typeface="Calibri"/>
              </a:defRPr>
            </a:pPr>
            <a:r>
              <a:t>Sub-segmentación de aprobados: BMB vs MMM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42415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 i="1">
                <a:solidFill>
                  <a:srgbClr val="5A646E"/>
                </a:solidFill>
                <a:latin typeface="Calibri"/>
              </a:defRPr>
            </a:pPr>
            <a:r>
              <a:t>Perfil de riesgo dentro de la cartera aprobada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200" b="0" i="0">
                <a:solidFill>
                  <a:srgbClr val="5A646E"/>
                </a:solidFill>
                <a:latin typeface="Calibri"/>
              </a:defRPr>
            </a:pPr>
            <a:r>
              <a:t>8</a:t>
            </a:r>
          </a:p>
        </p:txBody>
      </p:sp>
      <p:pic>
        <p:nvPicPr>
          <p:cNvPr id="7" name="Picture 6" descr="4_segmentos_don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4480"/>
            <a:ext cx="6217920" cy="4937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132320" y="1737360"/>
            <a:ext cx="45720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0F2A4A"/>
                </a:solidFill>
                <a:latin typeface="Calibri"/>
              </a:rPr>
              <a:t>•  BMB:</a:t>
            </a:r>
            <a:r>
              <a:rPr sz="1600">
                <a:solidFill>
                  <a:srgbClr val="0F2A4A"/>
                </a:solidFill>
                <a:latin typeface="Calibri"/>
              </a:rPr>
              <a:t>  69,463 clientes (95.06% de aprobados).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F2A4A"/>
                </a:solidFill>
                <a:latin typeface="Calibri"/>
              </a:rPr>
              <a:t>•  MMM:</a:t>
            </a:r>
            <a:r>
              <a:rPr sz="1600">
                <a:solidFill>
                  <a:srgbClr val="0F2A4A"/>
                </a:solidFill>
                <a:latin typeface="Calibri"/>
              </a:rPr>
              <a:t>  3,607 clientes (4.94% de aprobados).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F2A4A"/>
                </a:solidFill>
                <a:latin typeface="Calibri"/>
              </a:rPr>
              <a:t>•  Diferencia clave:</a:t>
            </a:r>
            <a:r>
              <a:rPr sz="1600">
                <a:solidFill>
                  <a:srgbClr val="0F2A4A"/>
                </a:solidFill>
                <a:latin typeface="Calibri"/>
              </a:rPr>
              <a:t>  BMB exige 36 meses sin morosidad; MMM cumple con 30+.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0" y="4023360"/>
            <a:ext cx="4480560" cy="228600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0" y="4160520"/>
            <a:ext cx="41148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  <a:latin typeface="Calibri"/>
              </a:defRPr>
            </a:pPr>
            <a:r>
              <a:t>La recuperación media de los aprobados (76.5%) más que duplica la de los rechazados (30.7%), confirmando la separación del riesgo.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600" b="1" i="0">
                <a:solidFill>
                  <a:srgbClr val="FFFFFF"/>
                </a:solidFill>
                <a:latin typeface="Calibri"/>
              </a:defRPr>
            </a:pPr>
            <a:r>
              <a:t>Calidad de la Cartera por Segmento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42415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 i="1">
                <a:solidFill>
                  <a:srgbClr val="5A646E"/>
                </a:solidFill>
                <a:latin typeface="Calibri"/>
              </a:defRPr>
            </a:pPr>
            <a:r>
              <a:t>Morosidad y recuperación reales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200" b="0" i="0">
                <a:solidFill>
                  <a:srgbClr val="5A646E"/>
                </a:solidFill>
                <a:latin typeface="Calibri"/>
              </a:defRPr>
            </a:pPr>
            <a:r>
              <a:t>9</a:t>
            </a:r>
          </a:p>
        </p:txBody>
      </p:sp>
      <p:pic>
        <p:nvPicPr>
          <p:cNvPr id="7" name="Picture 6" descr="5_calidad_segmen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63040"/>
            <a:ext cx="8229600" cy="309400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052560" y="1554480"/>
            <a:ext cx="2926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0F2A4A"/>
                </a:solidFill>
                <a:latin typeface="Calibri"/>
              </a:rPr>
              <a:t>•  BMB:</a:t>
            </a:r>
            <a:r>
              <a:rPr sz="1400">
                <a:solidFill>
                  <a:srgbClr val="0F2A4A"/>
                </a:solidFill>
                <a:latin typeface="Calibri"/>
              </a:rPr>
              <a:t>  mora 28.5%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0F2A4A"/>
                </a:solidFill>
                <a:latin typeface="Calibri"/>
              </a:rPr>
              <a:t>•  MMM:</a:t>
            </a:r>
            <a:r>
              <a:rPr sz="1400">
                <a:solidFill>
                  <a:srgbClr val="0F2A4A"/>
                </a:solidFill>
                <a:latin typeface="Calibri"/>
              </a:rPr>
              <a:t>  mora 29.4%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0F2A4A"/>
                </a:solidFill>
                <a:latin typeface="Calibri"/>
              </a:rPr>
              <a:t>•  Malo:</a:t>
            </a:r>
            <a:r>
              <a:rPr sz="1400">
                <a:solidFill>
                  <a:srgbClr val="0F2A4A"/>
                </a:solidFill>
                <a:latin typeface="Calibri"/>
              </a:rPr>
              <a:t>  mora 86.5%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0F2A4A"/>
                </a:solidFill>
                <a:latin typeface="Calibri"/>
              </a:rPr>
              <a:t>•  dti:</a:t>
            </a:r>
            <a:r>
              <a:rPr sz="1400">
                <a:solidFill>
                  <a:srgbClr val="0F2A4A"/>
                </a:solidFill>
                <a:latin typeface="Calibri"/>
              </a:rPr>
              <a:t>  13.5 · 13.2 · 19.7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600" b="1" i="0">
                <a:solidFill>
                  <a:srgbClr val="FFFFFF"/>
                </a:solidFill>
                <a:latin typeface="Calibri"/>
              </a:defRPr>
            </a:pPr>
            <a:r>
              <a:t>Métricas de Desempeño del Modelo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42415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 i="1">
                <a:solidFill>
                  <a:srgbClr val="5A646E"/>
                </a:solidFill>
                <a:latin typeface="Calibri"/>
              </a:defRPr>
            </a:pPr>
            <a:r>
              <a:t>Poder discriminatorio sin fuga de datos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200" b="0" i="0">
                <a:solidFill>
                  <a:srgbClr val="5A646E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 i="1">
                <a:solidFill>
                  <a:srgbClr val="5A646E"/>
                </a:solidFill>
                <a:latin typeface="Calibri"/>
              </a:defRPr>
            </a:pPr>
            <a:r>
              <a:t>Score = variables de comportamiento del solicitante (dti, grade, delinq_2yrs)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965960"/>
            <a:ext cx="3383280" cy="1554480"/>
          </a:xfrm>
          <a:prstGeom prst="rect">
            <a:avLst/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965960"/>
            <a:ext cx="3383280" cy="4572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103120"/>
            <a:ext cx="3383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200" b="1" i="0">
                <a:solidFill>
                  <a:srgbClr val="0F2A4A"/>
                </a:solidFill>
                <a:latin typeface="Calibri"/>
              </a:defRPr>
            </a:pPr>
            <a:r>
              <a:t>0.570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880360"/>
            <a:ext cx="3383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 i="0">
                <a:solidFill>
                  <a:srgbClr val="5A646E"/>
                </a:solidFill>
                <a:latin typeface="Calibri"/>
              </a:defRPr>
            </a:pPr>
            <a:r>
              <a:t>AUROC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1965960"/>
            <a:ext cx="3383280" cy="1554480"/>
          </a:xfrm>
          <a:prstGeom prst="rect">
            <a:avLst/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06240" y="1965960"/>
            <a:ext cx="3383280" cy="4572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40" y="2103120"/>
            <a:ext cx="3383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200" b="1" i="0">
                <a:solidFill>
                  <a:srgbClr val="0F2A4A"/>
                </a:solidFill>
                <a:latin typeface="Calibri"/>
              </a:defRPr>
            </a:pPr>
            <a:r>
              <a:t>0.141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2880360"/>
            <a:ext cx="3383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 i="0">
                <a:solidFill>
                  <a:srgbClr val="5A646E"/>
                </a:solidFill>
                <a:latin typeface="Calibri"/>
              </a:defRPr>
            </a:pPr>
            <a:r>
              <a:t>GINI = 2·AUROC − 1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0" y="1965960"/>
            <a:ext cx="3749039" cy="1554480"/>
          </a:xfrm>
          <a:prstGeom prst="rect">
            <a:avLst/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0" y="1965960"/>
            <a:ext cx="3749039" cy="4572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0" y="2103120"/>
            <a:ext cx="3749039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200" b="1" i="0">
                <a:solidFill>
                  <a:srgbClr val="0F2A4A"/>
                </a:solidFill>
                <a:latin typeface="Calibri"/>
              </a:defRPr>
            </a:pPr>
            <a:r>
              <a:t>0.126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2880360"/>
            <a:ext cx="374903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 i="0">
                <a:solidFill>
                  <a:srgbClr val="5A646E"/>
                </a:solidFill>
                <a:latin typeface="Calibri"/>
              </a:defRPr>
            </a:pPr>
            <a:r>
              <a:t>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840480"/>
            <a:ext cx="10972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0F2A4A"/>
                </a:solidFill>
                <a:latin typeface="Calibri"/>
              </a:rPr>
              <a:t>•  Interpretación:</a:t>
            </a:r>
            <a:r>
              <a:rPr sz="1600">
                <a:solidFill>
                  <a:srgbClr val="0F2A4A"/>
                </a:solidFill>
                <a:latin typeface="Calibri"/>
              </a:rPr>
              <a:t>  AUROC = 0.57 indica capacidad predictiva moderada de las variables externas de comportamiento.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F2A4A"/>
                </a:solidFill>
                <a:latin typeface="Calibri"/>
              </a:rPr>
              <a:t>•  Aportación técnica:</a:t>
            </a:r>
            <a:r>
              <a:rPr sz="1600">
                <a:solidFill>
                  <a:srgbClr val="0F2A4A"/>
                </a:solidFill>
                <a:latin typeface="Calibri"/>
              </a:rPr>
              <a:t>  se detectó y eliminó una fuga de datos: la variable de recuperación define el target y, si se usa como predictor, infla AUROC a 0.85 (sesgo).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F2A4A"/>
                </a:solidFill>
                <a:latin typeface="Calibri"/>
              </a:rPr>
              <a:t>•  Robustez:</a:t>
            </a:r>
            <a:r>
              <a:rPr sz="1600">
                <a:solidFill>
                  <a:srgbClr val="0F2A4A"/>
                </a:solidFill>
                <a:latin typeface="Calibri"/>
              </a:rPr>
              <a:t>  las métricas se reportan de forma conservadora, solo sobre variables observables.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600" b="1" i="0">
                <a:solidFill>
                  <a:srgbClr val="FFFFFF"/>
                </a:solidFill>
                <a:latin typeface="Calibri"/>
              </a:defRPr>
            </a:pPr>
            <a:r>
              <a:t>Curva ROC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42415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 i="1">
                <a:solidFill>
                  <a:srgbClr val="5A646E"/>
                </a:solidFill>
                <a:latin typeface="Calibri"/>
              </a:defRPr>
            </a:pPr>
            <a:r>
              <a:t>Trade-off entre sensibilidad y especificidad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200" b="0" i="0">
                <a:solidFill>
                  <a:srgbClr val="5A646E"/>
                </a:solidFill>
                <a:latin typeface="Calibri"/>
              </a:defRPr>
            </a:pPr>
            <a:r>
              <a:t>11</a:t>
            </a:r>
          </a:p>
        </p:txBody>
      </p:sp>
      <p:pic>
        <p:nvPicPr>
          <p:cNvPr id="7" name="Picture 6" descr="6_curva_r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7440" y="1463040"/>
            <a:ext cx="7315200" cy="585999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0" i="0">
                <a:solidFill>
                  <a:srgbClr val="5A646E"/>
                </a:solidFill>
                <a:latin typeface="Calibri"/>
              </a:defRPr>
            </a:pPr>
            <a:r>
              <a:t>El modelo se ubica por encima de la diagonal (azar), confirmando capacidad discriminatoria moderada.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600" b="1" i="0">
                <a:solidFill>
                  <a:srgbClr val="FFFFFF"/>
                </a:solidFill>
                <a:latin typeface="Calibri"/>
              </a:defRPr>
            </a:pPr>
            <a:r>
              <a:t>Gráfica de KS y Captura de Morosos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42415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 i="1">
                <a:solidFill>
                  <a:srgbClr val="5A646E"/>
                </a:solidFill>
                <a:latin typeface="Calibri"/>
              </a:defRPr>
            </a:pPr>
            <a:r>
              <a:t>Prueba de 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200" b="0" i="0">
                <a:solidFill>
                  <a:srgbClr val="5A646E"/>
                </a:solidFill>
                <a:latin typeface="Calibri"/>
              </a:defRPr>
            </a:pPr>
            <a:r>
              <a:t>12</a:t>
            </a:r>
          </a:p>
        </p:txBody>
      </p:sp>
      <p:pic>
        <p:nvPicPr>
          <p:cNvPr id="7" name="Picture 6" descr="7_curva_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6309360" cy="494072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40880" y="1554480"/>
            <a:ext cx="4572000" cy="2834640"/>
          </a:xfrm>
          <a:prstGeom prst="rect">
            <a:avLst/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23760" y="1645920"/>
            <a:ext cx="4206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 i="0">
                <a:solidFill>
                  <a:srgbClr val="0F2A4A"/>
                </a:solidFill>
                <a:latin typeface="Calibri"/>
              </a:defRPr>
            </a:pPr>
            <a:r>
              <a:t>Tabla de captura por segmento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40880" y="2148840"/>
            <a:ext cx="822960" cy="502920"/>
          </a:xfrm>
          <a:prstGeom prst="rect">
            <a:avLst/>
          </a:prstGeom>
          <a:solidFill>
            <a:srgbClr val="B3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0" y="2148840"/>
            <a:ext cx="822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0" i="0">
                <a:solidFill>
                  <a:srgbClr val="FFFFFF"/>
                </a:solidFill>
                <a:latin typeface="Calibri"/>
              </a:defRPr>
            </a:pPr>
            <a:r>
              <a:t>Malo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55279" y="2148840"/>
            <a:ext cx="36576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2148840"/>
            <a:ext cx="35661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 i="0">
                <a:solidFill>
                  <a:srgbClr val="0F2A4A"/>
                </a:solidFill>
                <a:latin typeface="Calibri"/>
              </a:defRPr>
            </a:pPr>
            <a:r>
              <a:t>219,779 · 75.05% · 190,130 malos (86.5%)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40880" y="2834640"/>
            <a:ext cx="822960" cy="50292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0" y="2834640"/>
            <a:ext cx="822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0" i="0">
                <a:solidFill>
                  <a:srgbClr val="FFFFFF"/>
                </a:solidFill>
                <a:latin typeface="Calibri"/>
              </a:defRPr>
            </a:pPr>
            <a:r>
              <a:t>MMM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55279" y="2834640"/>
            <a:ext cx="36576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0" y="2834640"/>
            <a:ext cx="35661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 i="0">
                <a:solidFill>
                  <a:srgbClr val="0F2A4A"/>
                </a:solidFill>
                <a:latin typeface="Calibri"/>
              </a:defRPr>
            </a:pPr>
            <a:r>
              <a:t>3,607 · 1.23% · 1,062 malos (29.4%)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40880" y="3520440"/>
            <a:ext cx="822960" cy="5029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0" y="3520440"/>
            <a:ext cx="822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0" i="0">
                <a:solidFill>
                  <a:srgbClr val="FFFFFF"/>
                </a:solidFill>
                <a:latin typeface="Calibri"/>
              </a:defRPr>
            </a:pPr>
            <a:r>
              <a:t>BMB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55279" y="3520440"/>
            <a:ext cx="36576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0" y="3520440"/>
            <a:ext cx="35661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 i="0">
                <a:solidFill>
                  <a:srgbClr val="0F2A4A"/>
                </a:solidFill>
                <a:latin typeface="Calibri"/>
              </a:defRPr>
            </a:pPr>
            <a:r>
              <a:t>69,463 · 23.72% · 19,823 malos (28.5%)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4572000"/>
            <a:ext cx="45720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 i="0">
                <a:solidFill>
                  <a:srgbClr val="0F2A4A"/>
                </a:solidFill>
                <a:latin typeface="Calibri"/>
              </a:defRPr>
            </a:pPr>
            <a:r>
              <a:t>Rechazando el 75% de las solicitudes capturamos el 90.10% de los futuros morosos.</a:t>
            </a:r>
            <a:br/>
            <a:br/>
            <a:r>
              <a:t>Al aprobar solo el 25% (BMB + MMM), la mora esperada dentro de los aprobados es de 28.6%, frente al 86.5% de los rechazados.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600" b="1" i="0">
                <a:solidFill>
                  <a:srgbClr val="FFFFFF"/>
                </a:solidFill>
                <a:latin typeface="Calibri"/>
              </a:defRPr>
            </a:pPr>
            <a:r>
              <a:t>Validación y Control de Calidad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42415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 i="1">
                <a:solidFill>
                  <a:srgbClr val="5A646E"/>
                </a:solidFill>
                <a:latin typeface="Calibri"/>
              </a:defRPr>
            </a:pPr>
            <a:r>
              <a:t>Verificación independiente de los cálculos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200" b="0" i="0">
                <a:solidFill>
                  <a:srgbClr val="5A646E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0F2A4A"/>
                </a:solidFill>
                <a:latin typeface="Calibri"/>
              </a:rPr>
              <a:t>•  Reproducibilidad:</a:t>
            </a:r>
            <a:r>
              <a:rPr sz="1700">
                <a:solidFill>
                  <a:srgbClr val="0F2A4A"/>
                </a:solidFill>
                <a:latin typeface="Calibri"/>
              </a:rPr>
              <a:t>  se ejecutó un script de auditoría independiente que reproduce carga, clasificación y métricas.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0F2A4A"/>
                </a:solidFill>
                <a:latin typeface="Calibri"/>
              </a:rPr>
              <a:t>•  Consistencia interna:</a:t>
            </a:r>
            <a:r>
              <a:rPr sz="1700">
                <a:solidFill>
                  <a:srgbClr val="0F2A4A"/>
                </a:solidFill>
                <a:latin typeface="Calibri"/>
              </a:rPr>
              <a:t>  se confirmó que BMB + MMM = 73,070 = total de aprobados.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0F2A4A"/>
                </a:solidFill>
                <a:latin typeface="Calibri"/>
              </a:rPr>
              <a:t>•  Coherencia del score:</a:t>
            </a:r>
            <a:r>
              <a:rPr sz="1700">
                <a:solidFill>
                  <a:srgbClr val="0F2A4A"/>
                </a:solidFill>
                <a:latin typeface="Calibri"/>
              </a:rPr>
              <a:t>  los aprobados concentran condiciones secundarias cumplidas; los rechazados, muy pocas.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0F2A4A"/>
                </a:solidFill>
                <a:latin typeface="Calibri"/>
              </a:rPr>
              <a:t>•  Tratamiento de NaNs:</a:t>
            </a:r>
            <a:r>
              <a:rPr sz="1700">
                <a:solidFill>
                  <a:srgbClr val="0F2A4A"/>
                </a:solidFill>
                <a:latin typeface="Calibri"/>
              </a:rPr>
              <a:t>  morosidad NaN = sin historial (aprobable); en condiciones estrictas se trata explícitamente.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0F2A4A"/>
                </a:solidFill>
                <a:latin typeface="Calibri"/>
              </a:rPr>
              <a:t>•  Sin casos degenerados:</a:t>
            </a:r>
            <a:r>
              <a:rPr sz="1700">
                <a:solidFill>
                  <a:srgbClr val="0F2A4A"/>
                </a:solidFill>
                <a:latin typeface="Calibri"/>
              </a:rPr>
              <a:t>  no existen montos financiados en cero ni divisiones inválidas en la recuperación.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0F2A4A"/>
                </a:solidFill>
                <a:latin typeface="Calibri"/>
              </a:rPr>
              <a:t>•  Limpieza del reporte:</a:t>
            </a:r>
            <a:r>
              <a:rPr sz="1700">
                <a:solidFill>
                  <a:srgbClr val="0F2A4A"/>
                </a:solidFill>
                <a:latin typeface="Calibri"/>
              </a:rPr>
              <a:t>  no se reportan métricas infladas por fuga de datos (target leakage).</a:t>
            </a:r>
          </a:p>
        </p:txBody>
      </p:sp>
      <p:sp>
        <p:nvSpPr>
          <p:cNvPr id="8" name="Rectangle 7"/>
          <p:cNvSpPr/>
          <p:nvPr/>
        </p:nvSpPr>
        <p:spPr>
          <a:xfrm>
            <a:off x="8138160" y="4846320"/>
            <a:ext cx="3383280" cy="13716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0" y="5074920"/>
            <a:ext cx="338328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 i="0">
                <a:solidFill>
                  <a:srgbClr val="FFFFFF"/>
                </a:solidFill>
                <a:latin typeface="Calibri"/>
              </a:defRPr>
            </a:pPr>
            <a:r>
              <a:t>VALIDADO</a:t>
            </a:r>
            <a:br/>
            <a:r>
              <a:t>Cálculos correctos y sin sesgo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600" b="1" i="0">
                <a:solidFill>
                  <a:srgbClr val="FFFFFF"/>
                </a:solidFill>
                <a:latin typeface="Calibri"/>
              </a:defRPr>
            </a:pPr>
            <a:r>
              <a:t>Conclusiones y Siguientes Pasos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42415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 i="1">
                <a:solidFill>
                  <a:srgbClr val="5A646E"/>
                </a:solidFill>
                <a:latin typeface="Calibri"/>
              </a:defRPr>
            </a:pPr>
            <a:r>
              <a:t>Hallazgos y mejoras futuras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200" b="0" i="0">
                <a:solidFill>
                  <a:srgbClr val="5A646E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0972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0F2A4A"/>
                </a:solidFill>
                <a:latin typeface="Calibri"/>
              </a:rPr>
              <a:t>•  Se cumple la meta:</a:t>
            </a:r>
            <a:r>
              <a:rPr sz="1700">
                <a:solidFill>
                  <a:srgbClr val="0F2A4A"/>
                </a:solidFill>
                <a:latin typeface="Calibri"/>
              </a:rPr>
              <a:t>  tasa de aprobación del 24.95%, prácticamente el objetivo del 25%.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0F2A4A"/>
                </a:solidFill>
                <a:latin typeface="Calibri"/>
              </a:rPr>
              <a:t>•  Segmentación útil:</a:t>
            </a:r>
            <a:r>
              <a:rPr sz="1700">
                <a:solidFill>
                  <a:srgbClr val="0F2A4A"/>
                </a:solidFill>
                <a:latin typeface="Calibri"/>
              </a:rPr>
              <a:t>  la cartera aprobada queda dividida en 95.1% BMB (bajo riesgo) y 4.9% MMM (riesgo marginal).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0F2A4A"/>
                </a:solidFill>
                <a:latin typeface="Calibri"/>
              </a:rPr>
              <a:t>•  Riesgo bien separado:</a:t>
            </a:r>
            <a:r>
              <a:rPr sz="1700">
                <a:solidFill>
                  <a:srgbClr val="0F2A4A"/>
                </a:solidFill>
                <a:latin typeface="Calibri"/>
              </a:rPr>
              <a:t>  los rechazados concentran el 90.1% de los morosos y recuperaciones menores al 31%.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0F2A4A"/>
                </a:solidFill>
                <a:latin typeface="Calibri"/>
              </a:rPr>
              <a:t>•  Modelo interpretable y auditable:</a:t>
            </a:r>
            <a:r>
              <a:rPr sz="1700">
                <a:solidFill>
                  <a:srgbClr val="0F2A4A"/>
                </a:solidFill>
                <a:latin typeface="Calibri"/>
              </a:rPr>
              <a:t>  reglas de negocio transparentes, aptas para gobernanza y regulación.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4572000"/>
            <a:ext cx="10972800" cy="1737360"/>
          </a:xfrm>
          <a:prstGeom prst="rect">
            <a:avLst/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66344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 i="0">
                <a:solidFill>
                  <a:srgbClr val="C9A24A"/>
                </a:solidFill>
                <a:latin typeface="Calibri"/>
              </a:defRPr>
            </a:pPr>
            <a:r>
              <a:t>Siguientes pasos propuestos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029200"/>
            <a:ext cx="10607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2A4A"/>
                </a:solidFill>
                <a:latin typeface="Calibri"/>
              </a:defRPr>
            </a:pPr>
            <a:r>
              <a:t>•  Ajustar umbrales (dti, meses de morosidad) con validación histórica de incumplimiento.</a:t>
            </a:r>
          </a:p>
          <a:p>
            <a:pPr>
              <a:spcAft>
                <a:spcPts val="800"/>
              </a:spcAft>
              <a:defRPr sz="1500">
                <a:solidFill>
                  <a:srgbClr val="0F2A4A"/>
                </a:solidFill>
                <a:latin typeface="Calibri"/>
              </a:defRPr>
            </a:pPr>
            <a:r>
              <a:t>•  Incorporar variables adicionales (ingreso, utilización de crédito, número de líneas).</a:t>
            </a:r>
          </a:p>
          <a:p>
            <a:pPr>
              <a:spcAft>
                <a:spcPts val="800"/>
              </a:spcAft>
              <a:defRPr sz="1500">
                <a:solidFill>
                  <a:srgbClr val="0F2A4A"/>
                </a:solidFill>
                <a:latin typeface="Calibri"/>
              </a:defRPr>
            </a:pPr>
            <a:r>
              <a:t>•  Complementar con un score estadístico (regresión logística) conservando la interpretabilidad.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03120"/>
            <a:ext cx="12191695" cy="54864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400" b="1" i="0">
                <a:solidFill>
                  <a:srgbClr val="FFFFFF"/>
                </a:solidFill>
                <a:latin typeface="Calibri"/>
              </a:defRPr>
            </a:pPr>
            <a:r>
              <a:t>Muchas Gracias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474720"/>
            <a:ext cx="94183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0" i="0">
                <a:solidFill>
                  <a:srgbClr val="F5F2EA"/>
                </a:solidFill>
                <a:latin typeface="Calibri"/>
              </a:defRPr>
            </a:pPr>
            <a:r>
              <a:t>Modelo de decisión basado en reglas para la aprobación de créditos</a:t>
            </a:r>
            <a:br/>
            <a:r>
              <a:t>Administración Actuarial · Licenciatura en Actuaría · FES Acatlán · UNAM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120640"/>
            <a:ext cx="94183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0" i="0">
                <a:solidFill>
                  <a:srgbClr val="C9A24A"/>
                </a:solidFill>
                <a:latin typeface="Calibri"/>
              </a:defRPr>
            </a:pPr>
            <a:r>
              <a:t>Prof. Tapia Martínez Omar Alejandro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